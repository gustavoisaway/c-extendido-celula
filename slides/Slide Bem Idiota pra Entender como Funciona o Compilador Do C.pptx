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4b14c46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4b14c46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4b14c46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44b14c46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44b14c46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44b14c46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44b14c46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44b14c46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44b14c46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44b14c46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44b14c46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44b14c46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4b14c46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44b14c46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44b14c460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44b14c460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Bem Idiota pra Entender como Funciona o Compilador Do C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Sustavo Galgado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974400" y="434850"/>
            <a:ext cx="7195200" cy="427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GCC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448650" y="1942950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Pr</a:t>
            </a:r>
            <a:r>
              <a:rPr lang="pt-BR">
                <a:solidFill>
                  <a:schemeClr val="dk1"/>
                </a:solidFill>
              </a:rPr>
              <a:t>é-Processador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716400" y="1942950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Compilador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5984150" y="1942950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Ligador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974400" y="434850"/>
            <a:ext cx="7195200" cy="427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GCC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1486475" y="931275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Pré-Processador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3716400" y="1942950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Compilador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5984150" y="1942950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Ligador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2" name="Google Shape;72;p15"/>
          <p:cNvCxnSpPr>
            <a:stCxn id="69" idx="2"/>
          </p:cNvCxnSpPr>
          <p:nvPr/>
        </p:nvCxnSpPr>
        <p:spPr>
          <a:xfrm>
            <a:off x="2342075" y="2188875"/>
            <a:ext cx="0" cy="3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5"/>
          <p:cNvSpPr/>
          <p:nvPr/>
        </p:nvSpPr>
        <p:spPr>
          <a:xfrm>
            <a:off x="1486475" y="2523525"/>
            <a:ext cx="1711200" cy="1600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Vasculha o código escrito em linguagem natural procurando por erros e diretrizes de pré-compilação (#include, #define, #__Generics, etc)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974400" y="434850"/>
            <a:ext cx="7195200" cy="427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GCC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486475" y="931275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Pré-Processador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716400" y="931275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Compilador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81" name="Google Shape;81;p16"/>
          <p:cNvCxnSpPr>
            <a:stCxn id="79" idx="2"/>
          </p:cNvCxnSpPr>
          <p:nvPr/>
        </p:nvCxnSpPr>
        <p:spPr>
          <a:xfrm>
            <a:off x="2342075" y="2188875"/>
            <a:ext cx="0" cy="3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6"/>
          <p:cNvSpPr/>
          <p:nvPr/>
        </p:nvSpPr>
        <p:spPr>
          <a:xfrm>
            <a:off x="1486475" y="2523525"/>
            <a:ext cx="1711200" cy="1600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Vasculha o código escrito em linguagem natural procurando por erros e diretrizes de pré-compilação (#include, #define, #__Generics, etc)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716400" y="2523525"/>
            <a:ext cx="1711200" cy="1600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Procura todos os arquivos </a:t>
            </a:r>
            <a:r>
              <a:rPr i="1" lang="pt-BR" sz="1200">
                <a:solidFill>
                  <a:schemeClr val="dk1"/>
                </a:solidFill>
              </a:rPr>
              <a:t>.c </a:t>
            </a:r>
            <a:r>
              <a:rPr lang="pt-BR" sz="1200">
                <a:solidFill>
                  <a:schemeClr val="dk1"/>
                </a:solidFill>
              </a:rPr>
              <a:t>REFERIDOS para transformá-los em arquivos .o (arquivos objeto), que é um arquivo intermediário.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84" name="Google Shape;84;p16"/>
          <p:cNvCxnSpPr>
            <a:endCxn id="83" idx="0"/>
          </p:cNvCxnSpPr>
          <p:nvPr/>
        </p:nvCxnSpPr>
        <p:spPr>
          <a:xfrm>
            <a:off x="4572000" y="2188725"/>
            <a:ext cx="0" cy="3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6"/>
          <p:cNvCxnSpPr/>
          <p:nvPr/>
        </p:nvCxnSpPr>
        <p:spPr>
          <a:xfrm>
            <a:off x="6801925" y="2188725"/>
            <a:ext cx="0" cy="3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6"/>
          <p:cNvSpPr/>
          <p:nvPr/>
        </p:nvSpPr>
        <p:spPr>
          <a:xfrm>
            <a:off x="5984150" y="1942950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Ligador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974400" y="434850"/>
            <a:ext cx="7195200" cy="427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GCC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1486475" y="931275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Pré-Processador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3716400" y="931275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Compilador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946325" y="931275"/>
            <a:ext cx="1711200" cy="125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Ligador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95" name="Google Shape;95;p17"/>
          <p:cNvCxnSpPr>
            <a:stCxn id="92" idx="2"/>
          </p:cNvCxnSpPr>
          <p:nvPr/>
        </p:nvCxnSpPr>
        <p:spPr>
          <a:xfrm>
            <a:off x="2342075" y="2188875"/>
            <a:ext cx="0" cy="3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7"/>
          <p:cNvSpPr/>
          <p:nvPr/>
        </p:nvSpPr>
        <p:spPr>
          <a:xfrm>
            <a:off x="1486475" y="2523525"/>
            <a:ext cx="1711200" cy="1600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Vasculha o código escrito em linguagem natural procurando por erros e diretrizes de pré-compilação (#include, #define, #__Generics, etc)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716400" y="2523525"/>
            <a:ext cx="1711200" cy="1600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Procura todos os arquivos </a:t>
            </a:r>
            <a:r>
              <a:rPr i="1" lang="pt-BR" sz="1200">
                <a:solidFill>
                  <a:schemeClr val="dk1"/>
                </a:solidFill>
              </a:rPr>
              <a:t>.c </a:t>
            </a:r>
            <a:r>
              <a:rPr lang="pt-BR" sz="1200">
                <a:solidFill>
                  <a:schemeClr val="dk1"/>
                </a:solidFill>
              </a:rPr>
              <a:t>REFERIDOS para transformá-los em arquivos .o (arquivos objeto), que é um arquivo intermediário.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98" name="Google Shape;98;p17"/>
          <p:cNvCxnSpPr>
            <a:endCxn id="97" idx="0"/>
          </p:cNvCxnSpPr>
          <p:nvPr/>
        </p:nvCxnSpPr>
        <p:spPr>
          <a:xfrm>
            <a:off x="4572000" y="2188725"/>
            <a:ext cx="0" cy="3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7"/>
          <p:cNvSpPr/>
          <p:nvPr/>
        </p:nvSpPr>
        <p:spPr>
          <a:xfrm>
            <a:off x="5946325" y="2523525"/>
            <a:ext cx="1711200" cy="1600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Procura por todas as referências a outros arquivos (#include) e junta todos eles num único executável em linguagem de máquina.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>
            <a:off x="6801925" y="2188725"/>
            <a:ext cx="0" cy="3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Sequ</a:t>
            </a:r>
            <a:r>
              <a:rPr lang="pt-BR"/>
              <a:t>ência de Inclusão</a:t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1256325" y="210960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main.c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3850500" y="210960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biblioteca.h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444675" y="210960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biblioteca.c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9" name="Google Shape;109;p18"/>
          <p:cNvCxnSpPr>
            <a:stCxn id="106" idx="3"/>
            <a:endCxn id="107" idx="1"/>
          </p:cNvCxnSpPr>
          <p:nvPr/>
        </p:nvCxnSpPr>
        <p:spPr>
          <a:xfrm>
            <a:off x="2699325" y="2571750"/>
            <a:ext cx="1151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8"/>
          <p:cNvCxnSpPr>
            <a:stCxn id="108" idx="1"/>
            <a:endCxn id="107" idx="3"/>
          </p:cNvCxnSpPr>
          <p:nvPr/>
        </p:nvCxnSpPr>
        <p:spPr>
          <a:xfrm rot="10800000">
            <a:off x="5293575" y="2571750"/>
            <a:ext cx="1151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8"/>
          <p:cNvSpPr txBox="1"/>
          <p:nvPr/>
        </p:nvSpPr>
        <p:spPr>
          <a:xfrm>
            <a:off x="2910225" y="2497300"/>
            <a:ext cx="32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 rot="1183">
            <a:off x="5458825" y="2109750"/>
            <a:ext cx="8715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2"/>
                </a:solidFill>
              </a:rPr>
              <a:t>#include “biblioteca.h”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 rot="1183">
            <a:off x="2813675" y="2084950"/>
            <a:ext cx="8715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2"/>
                </a:solidFill>
              </a:rPr>
              <a:t>#include “biblioteca.h”</a:t>
            </a:r>
            <a:endParaRPr sz="9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Sequência de Inclusão</a:t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1256325" y="210960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main.c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(possuindo #include “biblioteca.h”)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3850500" y="210960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biblioteca.h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6444675" y="210960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biblioteca.c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22" name="Google Shape;122;p19"/>
          <p:cNvCxnSpPr>
            <a:stCxn id="119" idx="3"/>
            <a:endCxn id="120" idx="1"/>
          </p:cNvCxnSpPr>
          <p:nvPr/>
        </p:nvCxnSpPr>
        <p:spPr>
          <a:xfrm>
            <a:off x="2699325" y="2571750"/>
            <a:ext cx="1151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9"/>
          <p:cNvCxnSpPr>
            <a:stCxn id="121" idx="1"/>
            <a:endCxn id="120" idx="3"/>
          </p:cNvCxnSpPr>
          <p:nvPr/>
        </p:nvCxnSpPr>
        <p:spPr>
          <a:xfrm rot="10800000">
            <a:off x="5293575" y="2571750"/>
            <a:ext cx="1151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9"/>
          <p:cNvSpPr/>
          <p:nvPr/>
        </p:nvSpPr>
        <p:spPr>
          <a:xfrm>
            <a:off x="1256325" y="350685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main.o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6444675" y="350685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biblioteca</a:t>
            </a:r>
            <a:r>
              <a:rPr lang="pt-BR">
                <a:solidFill>
                  <a:schemeClr val="dk1"/>
                </a:solidFill>
              </a:rPr>
              <a:t>.o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26" name="Google Shape;126;p19"/>
          <p:cNvCxnSpPr>
            <a:stCxn id="124" idx="3"/>
            <a:endCxn id="120" idx="2"/>
          </p:cNvCxnSpPr>
          <p:nvPr/>
        </p:nvCxnSpPr>
        <p:spPr>
          <a:xfrm flipH="1" rot="10800000">
            <a:off x="2699325" y="3033900"/>
            <a:ext cx="1872600" cy="935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9"/>
          <p:cNvSpPr txBox="1"/>
          <p:nvPr/>
        </p:nvSpPr>
        <p:spPr>
          <a:xfrm rot="-972900">
            <a:off x="3025195" y="3228834"/>
            <a:ext cx="866988" cy="4092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2"/>
                </a:solidFill>
              </a:rPr>
              <a:t>Referencia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 rot="1183">
            <a:off x="5458825" y="2109750"/>
            <a:ext cx="8715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2"/>
                </a:solidFill>
              </a:rPr>
              <a:t>#include “biblioteca.h”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29" name="Google Shape;129;p19"/>
          <p:cNvSpPr txBox="1"/>
          <p:nvPr/>
        </p:nvSpPr>
        <p:spPr>
          <a:xfrm rot="1183">
            <a:off x="2813675" y="2084950"/>
            <a:ext cx="8715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2"/>
                </a:solidFill>
              </a:rPr>
              <a:t>#include “biblioteca.h”</a:t>
            </a:r>
            <a:endParaRPr sz="9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Sequência de Inclusão</a:t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1256325" y="210960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main.c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(possuindo #include “biblioteca.h”)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3850500" y="210960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biblioteca.h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444675" y="210960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biblioteca.c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38" name="Google Shape;138;p20"/>
          <p:cNvCxnSpPr>
            <a:stCxn id="135" idx="3"/>
            <a:endCxn id="136" idx="1"/>
          </p:cNvCxnSpPr>
          <p:nvPr/>
        </p:nvCxnSpPr>
        <p:spPr>
          <a:xfrm>
            <a:off x="2699325" y="2571750"/>
            <a:ext cx="1151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20"/>
          <p:cNvCxnSpPr>
            <a:stCxn id="137" idx="1"/>
            <a:endCxn id="136" idx="3"/>
          </p:cNvCxnSpPr>
          <p:nvPr/>
        </p:nvCxnSpPr>
        <p:spPr>
          <a:xfrm rot="10800000">
            <a:off x="5293575" y="2571750"/>
            <a:ext cx="1151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0"/>
          <p:cNvSpPr/>
          <p:nvPr/>
        </p:nvSpPr>
        <p:spPr>
          <a:xfrm>
            <a:off x="1256325" y="350685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main.o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6444675" y="350685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biblioteca.o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42" name="Google Shape;142;p20"/>
          <p:cNvCxnSpPr>
            <a:stCxn id="140" idx="3"/>
            <a:endCxn id="136" idx="2"/>
          </p:cNvCxnSpPr>
          <p:nvPr/>
        </p:nvCxnSpPr>
        <p:spPr>
          <a:xfrm flipH="1" rot="10800000">
            <a:off x="2699325" y="3033900"/>
            <a:ext cx="1872600" cy="935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0"/>
          <p:cNvSpPr txBox="1"/>
          <p:nvPr/>
        </p:nvSpPr>
        <p:spPr>
          <a:xfrm rot="-972900">
            <a:off x="3025195" y="3228834"/>
            <a:ext cx="866988" cy="4092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2"/>
                </a:solidFill>
              </a:rPr>
              <a:t>Referencia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144" name="Google Shape;144;p20"/>
          <p:cNvSpPr txBox="1"/>
          <p:nvPr/>
        </p:nvSpPr>
        <p:spPr>
          <a:xfrm rot="250541">
            <a:off x="5461211" y="3062839"/>
            <a:ext cx="815765" cy="5805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2"/>
                </a:solidFill>
              </a:rPr>
              <a:t>Também referencia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145" name="Google Shape;145;p20"/>
          <p:cNvSpPr txBox="1"/>
          <p:nvPr/>
        </p:nvSpPr>
        <p:spPr>
          <a:xfrm rot="1183">
            <a:off x="5458825" y="2109750"/>
            <a:ext cx="8715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2"/>
                </a:solidFill>
              </a:rPr>
              <a:t>#include “biblioteca.h”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46" name="Google Shape;146;p20"/>
          <p:cNvSpPr txBox="1"/>
          <p:nvPr/>
        </p:nvSpPr>
        <p:spPr>
          <a:xfrm rot="1183">
            <a:off x="2813675" y="2084950"/>
            <a:ext cx="8715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2"/>
                </a:solidFill>
              </a:rPr>
              <a:t>#include “biblioteca.h”</a:t>
            </a:r>
            <a:endParaRPr sz="900">
              <a:solidFill>
                <a:schemeClr val="lt2"/>
              </a:solidFill>
            </a:endParaRPr>
          </a:p>
        </p:txBody>
      </p:sp>
      <p:cxnSp>
        <p:nvCxnSpPr>
          <p:cNvPr id="147" name="Google Shape;147;p20"/>
          <p:cNvCxnSpPr>
            <a:stCxn id="141" idx="1"/>
            <a:endCxn id="136" idx="2"/>
          </p:cNvCxnSpPr>
          <p:nvPr/>
        </p:nvCxnSpPr>
        <p:spPr>
          <a:xfrm rot="10800000">
            <a:off x="4572075" y="3033900"/>
            <a:ext cx="1872600" cy="935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Sequência de Inclusão</a:t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1256325" y="1106075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main.c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(possuindo #include “biblioteca.h”)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3850500" y="1106075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biblioteca.h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6444675" y="1106075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biblioteca.c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56" name="Google Shape;156;p21"/>
          <p:cNvCxnSpPr>
            <a:stCxn id="153" idx="3"/>
            <a:endCxn id="154" idx="1"/>
          </p:cNvCxnSpPr>
          <p:nvPr/>
        </p:nvCxnSpPr>
        <p:spPr>
          <a:xfrm>
            <a:off x="2699325" y="1568225"/>
            <a:ext cx="1151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1"/>
          <p:cNvCxnSpPr>
            <a:stCxn id="155" idx="1"/>
            <a:endCxn id="154" idx="3"/>
          </p:cNvCxnSpPr>
          <p:nvPr/>
        </p:nvCxnSpPr>
        <p:spPr>
          <a:xfrm rot="10800000">
            <a:off x="5293575" y="1568225"/>
            <a:ext cx="1151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21"/>
          <p:cNvSpPr/>
          <p:nvPr/>
        </p:nvSpPr>
        <p:spPr>
          <a:xfrm>
            <a:off x="1256325" y="2503325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main.o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444675" y="2503325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biblioteca.o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60" name="Google Shape;160;p21"/>
          <p:cNvCxnSpPr>
            <a:stCxn id="158" idx="3"/>
            <a:endCxn id="154" idx="2"/>
          </p:cNvCxnSpPr>
          <p:nvPr/>
        </p:nvCxnSpPr>
        <p:spPr>
          <a:xfrm flipH="1" rot="10800000">
            <a:off x="2699325" y="2030375"/>
            <a:ext cx="1872600" cy="935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1"/>
          <p:cNvSpPr txBox="1"/>
          <p:nvPr/>
        </p:nvSpPr>
        <p:spPr>
          <a:xfrm rot="-972900">
            <a:off x="2943520" y="2106234"/>
            <a:ext cx="866988" cy="4092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2"/>
                </a:solidFill>
              </a:rPr>
              <a:t>Referencia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2"/>
                </a:solidFill>
              </a:rPr>
              <a:t>protótipos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162" name="Google Shape;162;p21"/>
          <p:cNvSpPr txBox="1"/>
          <p:nvPr/>
        </p:nvSpPr>
        <p:spPr>
          <a:xfrm rot="944768">
            <a:off x="5509179" y="2066987"/>
            <a:ext cx="841270" cy="4877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2"/>
                </a:solidFill>
              </a:rPr>
              <a:t>Também referencia prot</a:t>
            </a:r>
            <a:r>
              <a:rPr lang="pt-BR" sz="1000">
                <a:solidFill>
                  <a:schemeClr val="lt2"/>
                </a:solidFill>
              </a:rPr>
              <a:t>ótipos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63" name="Google Shape;163;p21"/>
          <p:cNvSpPr txBox="1"/>
          <p:nvPr/>
        </p:nvSpPr>
        <p:spPr>
          <a:xfrm rot="1183">
            <a:off x="5458825" y="1106225"/>
            <a:ext cx="8715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2"/>
                </a:solidFill>
              </a:rPr>
              <a:t>#include “biblioteca.h”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64" name="Google Shape;164;p21"/>
          <p:cNvSpPr txBox="1"/>
          <p:nvPr/>
        </p:nvSpPr>
        <p:spPr>
          <a:xfrm rot="1183">
            <a:off x="2813675" y="1081425"/>
            <a:ext cx="8715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2"/>
                </a:solidFill>
              </a:rPr>
              <a:t>#include “biblioteca.h”</a:t>
            </a:r>
            <a:endParaRPr sz="900">
              <a:solidFill>
                <a:schemeClr val="lt2"/>
              </a:solidFill>
            </a:endParaRPr>
          </a:p>
        </p:txBody>
      </p:sp>
      <p:cxnSp>
        <p:nvCxnSpPr>
          <p:cNvPr id="165" name="Google Shape;165;p21"/>
          <p:cNvCxnSpPr>
            <a:stCxn id="159" idx="1"/>
            <a:endCxn id="154" idx="2"/>
          </p:cNvCxnSpPr>
          <p:nvPr/>
        </p:nvCxnSpPr>
        <p:spPr>
          <a:xfrm rot="10800000">
            <a:off x="4572075" y="2030375"/>
            <a:ext cx="1872600" cy="935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21"/>
          <p:cNvSpPr/>
          <p:nvPr/>
        </p:nvSpPr>
        <p:spPr>
          <a:xfrm>
            <a:off x="3850500" y="3882450"/>
            <a:ext cx="1443000" cy="9243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exec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3766200" y="2845075"/>
            <a:ext cx="1611600" cy="84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GCC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68" name="Google Shape;168;p21"/>
          <p:cNvCxnSpPr>
            <a:stCxn id="158" idx="3"/>
            <a:endCxn id="167" idx="1"/>
          </p:cNvCxnSpPr>
          <p:nvPr/>
        </p:nvCxnSpPr>
        <p:spPr>
          <a:xfrm>
            <a:off x="2699325" y="2965475"/>
            <a:ext cx="1066800" cy="303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1"/>
          <p:cNvCxnSpPr>
            <a:stCxn id="159" idx="1"/>
            <a:endCxn id="167" idx="3"/>
          </p:cNvCxnSpPr>
          <p:nvPr/>
        </p:nvCxnSpPr>
        <p:spPr>
          <a:xfrm flipH="1">
            <a:off x="5377875" y="2965475"/>
            <a:ext cx="1066800" cy="303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1"/>
          <p:cNvCxnSpPr>
            <a:endCxn id="166" idx="0"/>
          </p:cNvCxnSpPr>
          <p:nvPr/>
        </p:nvCxnSpPr>
        <p:spPr>
          <a:xfrm>
            <a:off x="4572000" y="3693750"/>
            <a:ext cx="0" cy="188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