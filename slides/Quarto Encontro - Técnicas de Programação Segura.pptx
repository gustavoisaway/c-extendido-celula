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8f00e1c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8f00e1c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f00e1c7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8f00e1c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8f00e1c7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8f00e1c7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f00e1c7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8f00e1c7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8f00e1c7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8f00e1c7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8f00e1c7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8f00e1c7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8f00e1c7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8f00e1c7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8f00e1c7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8f00e1c7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8f00e1c7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8f00e1c7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8f00e1c7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8f00e1c7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8f00e1c7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8f00e1c7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8f00e1c7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8f00e1c7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8f00e1c7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8f00e1c7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8f00e1c7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8f00e1c7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8f00e1c7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8f00e1c7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8f00e1c7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8f00e1c7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8f00e1c7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8f00e1c7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Quarto Encontro - T</a:t>
            </a:r>
            <a:r>
              <a:rPr lang="pt-BR"/>
              <a:t>écnicas de Programação Segura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Gustavo Salgado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iremos ver hoje?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654350"/>
            <a:ext cx="8520600" cy="18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Entrada de dados segura em C. (fgets)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Conversão de dados. (</a:t>
            </a:r>
            <a:r>
              <a:rPr i="1" lang="pt-BR">
                <a:solidFill>
                  <a:schemeClr val="accent2"/>
                </a:solidFill>
              </a:rPr>
              <a:t>atoi,</a:t>
            </a:r>
            <a:r>
              <a:rPr lang="pt-BR">
                <a:solidFill>
                  <a:schemeClr val="accent2"/>
                </a:solidFill>
              </a:rPr>
              <a:t> </a:t>
            </a:r>
            <a:r>
              <a:rPr i="1" lang="pt-BR">
                <a:solidFill>
                  <a:schemeClr val="accent2"/>
                </a:solidFill>
              </a:rPr>
              <a:t>atol, atof</a:t>
            </a:r>
            <a:r>
              <a:rPr lang="pt-BR">
                <a:solidFill>
                  <a:schemeClr val="accent2"/>
                </a:solidFill>
              </a:rPr>
              <a:t>,</a:t>
            </a:r>
            <a:r>
              <a:rPr i="1" lang="pt-BR">
                <a:solidFill>
                  <a:schemeClr val="accent2"/>
                </a:solidFill>
              </a:rPr>
              <a:t> sscanf, snprintf</a:t>
            </a:r>
            <a:r>
              <a:rPr lang="pt-BR">
                <a:solidFill>
                  <a:schemeClr val="accent2"/>
                </a:solidFill>
              </a:rPr>
              <a:t>)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Vetores/Strings em funções. (passando e recebendo)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Tratamento de Erros.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Pool de objetos. (estática ou dinâmica)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Entrada de Dados Segura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Sistemas operacionais permitem ao usuário entrar dados em programas de texto por meio da stream </a:t>
            </a:r>
            <a:r>
              <a:rPr i="1" lang="pt-BR">
                <a:solidFill>
                  <a:schemeClr val="accent2"/>
                </a:solidFill>
              </a:rPr>
              <a:t>stdin</a:t>
            </a:r>
            <a:r>
              <a:rPr lang="pt-BR">
                <a:solidFill>
                  <a:schemeClr val="accent2"/>
                </a:solidFill>
              </a:rPr>
              <a:t>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Quando o programa em C recebe os dados passados, deve transmiti-los a uma variável primitiva ou a um vetor.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O problema é se o usuário </a:t>
            </a:r>
            <a:r>
              <a:rPr b="1" lang="pt-BR">
                <a:solidFill>
                  <a:schemeClr val="accent2"/>
                </a:solidFill>
              </a:rPr>
              <a:t>não</a:t>
            </a:r>
            <a:r>
              <a:rPr lang="pt-BR">
                <a:solidFill>
                  <a:schemeClr val="accent2"/>
                </a:solidFill>
              </a:rPr>
              <a:t> escrever os dados de forma a obedecer a estrutura. Valores podem se perder e vetores podem estourar.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pt-BR">
                <a:solidFill>
                  <a:schemeClr val="accent2"/>
                </a:solidFill>
              </a:rPr>
              <a:t>scanf() </a:t>
            </a:r>
            <a:r>
              <a:rPr lang="pt-BR">
                <a:solidFill>
                  <a:schemeClr val="accent2"/>
                </a:solidFill>
              </a:rPr>
              <a:t>é considerada uma função </a:t>
            </a:r>
            <a:r>
              <a:rPr b="1" lang="pt-BR">
                <a:solidFill>
                  <a:schemeClr val="accent2"/>
                </a:solidFill>
              </a:rPr>
              <a:t>não segura</a:t>
            </a:r>
            <a:r>
              <a:rPr lang="pt-BR">
                <a:solidFill>
                  <a:schemeClr val="accent2"/>
                </a:solidFill>
              </a:rPr>
              <a:t> para o propósito de receber entrada do usuário em sistemas operacionais.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O melhor substituto para ela é o fgets().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Entrada de Dados Segura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Sistemas operacionais permitem ao usuário entrar dados em programas de texto por meio da stream </a:t>
            </a:r>
            <a:r>
              <a:rPr i="1" lang="pt-BR">
                <a:solidFill>
                  <a:schemeClr val="accent2"/>
                </a:solidFill>
              </a:rPr>
              <a:t>stdin</a:t>
            </a:r>
            <a:r>
              <a:rPr lang="pt-BR">
                <a:solidFill>
                  <a:schemeClr val="accent2"/>
                </a:solidFill>
              </a:rPr>
              <a:t>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Quando o programa em C recebe os dados passados, deve transmiti-los a uma variável primitiva ou a um vetor.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O problema é se o usuário </a:t>
            </a:r>
            <a:r>
              <a:rPr b="1" lang="pt-BR">
                <a:solidFill>
                  <a:schemeClr val="accent2"/>
                </a:solidFill>
              </a:rPr>
              <a:t>não</a:t>
            </a:r>
            <a:r>
              <a:rPr lang="pt-BR">
                <a:solidFill>
                  <a:schemeClr val="accent2"/>
                </a:solidFill>
              </a:rPr>
              <a:t> escrever os dados de forma a obedecer a estrutura. Valores podem se perder e vetores podem estourar.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pt-BR">
                <a:solidFill>
                  <a:schemeClr val="accent2"/>
                </a:solidFill>
              </a:rPr>
              <a:t>scanf() </a:t>
            </a:r>
            <a:r>
              <a:rPr lang="pt-BR">
                <a:solidFill>
                  <a:schemeClr val="accent2"/>
                </a:solidFill>
              </a:rPr>
              <a:t>é considerada uma função </a:t>
            </a:r>
            <a:r>
              <a:rPr b="1" lang="pt-BR">
                <a:solidFill>
                  <a:schemeClr val="accent2"/>
                </a:solidFill>
              </a:rPr>
              <a:t>não segura</a:t>
            </a:r>
            <a:r>
              <a:rPr lang="pt-BR">
                <a:solidFill>
                  <a:schemeClr val="accent2"/>
                </a:solidFill>
              </a:rPr>
              <a:t> para o propósito de receber entrada do usuário em sistemas operacionais, exatamente por operar esperando uma determinada estrutura fixa do usu</a:t>
            </a:r>
            <a:r>
              <a:rPr lang="pt-BR">
                <a:solidFill>
                  <a:schemeClr val="accent2"/>
                </a:solidFill>
              </a:rPr>
              <a:t>ário e por não tratar da exceção.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O melhor substituto para ela é o </a:t>
            </a:r>
            <a:r>
              <a:rPr b="1" lang="pt-BR">
                <a:solidFill>
                  <a:schemeClr val="accent2"/>
                </a:solidFill>
              </a:rPr>
              <a:t>fgets()</a:t>
            </a:r>
            <a:r>
              <a:rPr lang="pt-BR">
                <a:solidFill>
                  <a:schemeClr val="accent2"/>
                </a:solidFill>
              </a:rPr>
              <a:t>.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Entrada de Dados Segura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i="1" lang="pt-BR">
                <a:solidFill>
                  <a:srgbClr val="F1C232"/>
                </a:solidFill>
              </a:rPr>
              <a:t>char*</a:t>
            </a:r>
            <a:r>
              <a:rPr i="1" lang="pt-BR">
                <a:solidFill>
                  <a:schemeClr val="accent2"/>
                </a:solidFill>
              </a:rPr>
              <a:t> </a:t>
            </a:r>
            <a:r>
              <a:rPr i="1" lang="pt-BR">
                <a:solidFill>
                  <a:srgbClr val="4A86E8"/>
                </a:solidFill>
              </a:rPr>
              <a:t>fgets</a:t>
            </a:r>
            <a:r>
              <a:rPr i="1" lang="pt-BR">
                <a:solidFill>
                  <a:schemeClr val="accent2"/>
                </a:solidFill>
              </a:rPr>
              <a:t>(</a:t>
            </a:r>
            <a:r>
              <a:rPr i="1" lang="pt-BR">
                <a:solidFill>
                  <a:srgbClr val="F1C232"/>
                </a:solidFill>
              </a:rPr>
              <a:t>char</a:t>
            </a:r>
            <a:r>
              <a:rPr i="1" lang="pt-BR">
                <a:solidFill>
                  <a:schemeClr val="accent2"/>
                </a:solidFill>
              </a:rPr>
              <a:t> s[restrict .size], </a:t>
            </a:r>
            <a:r>
              <a:rPr i="1" lang="pt-BR">
                <a:solidFill>
                  <a:srgbClr val="F1C232"/>
                </a:solidFill>
              </a:rPr>
              <a:t>int</a:t>
            </a:r>
            <a:r>
              <a:rPr i="1" lang="pt-BR">
                <a:solidFill>
                  <a:schemeClr val="accent2"/>
                </a:solidFill>
              </a:rPr>
              <a:t> size, </a:t>
            </a:r>
            <a:r>
              <a:rPr i="1" lang="pt-BR">
                <a:solidFill>
                  <a:srgbClr val="F1C232"/>
                </a:solidFill>
              </a:rPr>
              <a:t>FILE* </a:t>
            </a:r>
            <a:r>
              <a:rPr i="1" lang="pt-BR">
                <a:solidFill>
                  <a:schemeClr val="accent2"/>
                </a:solidFill>
              </a:rPr>
              <a:t>restrict stream);</a:t>
            </a:r>
            <a:endParaRPr i="1">
              <a:solidFill>
                <a:schemeClr val="accent2"/>
              </a:solidFill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780125"/>
            <a:ext cx="85206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Espera do usuário um buffer de chars </a:t>
            </a:r>
            <a:r>
              <a:rPr b="1" lang="pt-BR">
                <a:solidFill>
                  <a:schemeClr val="accent2"/>
                </a:solidFill>
              </a:rPr>
              <a:t>s</a:t>
            </a:r>
            <a:r>
              <a:rPr lang="pt-BR">
                <a:solidFill>
                  <a:schemeClr val="accent2"/>
                </a:solidFill>
              </a:rPr>
              <a:t>, onde guardará a entrada do usuário.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Ela espera o tamanho máximo do buffer (size) em que ela pode armazenar os dados. Caso mais seja recebido, a função </a:t>
            </a:r>
            <a:r>
              <a:rPr i="1" lang="pt-BR">
                <a:solidFill>
                  <a:schemeClr val="accent2"/>
                </a:solidFill>
              </a:rPr>
              <a:t>fgets()</a:t>
            </a:r>
            <a:r>
              <a:rPr lang="pt-BR">
                <a:solidFill>
                  <a:schemeClr val="accent2"/>
                </a:solidFill>
              </a:rPr>
              <a:t> apenas ignora o restante e coloca o terminador ‘\0’.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i="1" lang="pt-BR">
                <a:solidFill>
                  <a:schemeClr val="accent2"/>
                </a:solidFill>
              </a:rPr>
              <a:t>stream</a:t>
            </a:r>
            <a:r>
              <a:rPr lang="pt-BR">
                <a:solidFill>
                  <a:schemeClr val="accent2"/>
                </a:solidFill>
              </a:rPr>
              <a:t> indica a stream de dados </a:t>
            </a:r>
            <a:r>
              <a:rPr lang="pt-BR">
                <a:solidFill>
                  <a:schemeClr val="accent2"/>
                </a:solidFill>
              </a:rPr>
              <a:t>onde</a:t>
            </a:r>
            <a:r>
              <a:rPr lang="pt-BR">
                <a:solidFill>
                  <a:schemeClr val="accent2"/>
                </a:solidFill>
              </a:rPr>
              <a:t> ela irá esperar receber os dados. As 3 streams padrões são: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b="1" i="1" lang="pt-BR">
                <a:solidFill>
                  <a:schemeClr val="accent2"/>
                </a:solidFill>
              </a:rPr>
              <a:t>stdin</a:t>
            </a:r>
            <a:r>
              <a:rPr lang="pt-BR">
                <a:solidFill>
                  <a:schemeClr val="accent2"/>
                </a:solidFill>
              </a:rPr>
              <a:t> – Entrada de dados padrão via terminal (entrada do usuário).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b="1" i="1" lang="pt-BR">
                <a:solidFill>
                  <a:schemeClr val="accent2"/>
                </a:solidFill>
              </a:rPr>
              <a:t>stdout</a:t>
            </a:r>
            <a:r>
              <a:rPr lang="pt-BR">
                <a:solidFill>
                  <a:schemeClr val="accent2"/>
                </a:solidFill>
              </a:rPr>
              <a:t> – Saída de dados padrão via terminal (saída do usuário).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b="1" i="1" lang="pt-BR">
                <a:solidFill>
                  <a:schemeClr val="accent2"/>
                </a:solidFill>
              </a:rPr>
              <a:t>stderr</a:t>
            </a:r>
            <a:r>
              <a:rPr lang="pt-BR">
                <a:solidFill>
                  <a:schemeClr val="accent2"/>
                </a:solidFill>
              </a:rPr>
              <a:t> – Comunica apenas erros do sistema operacional por padrão, via terminal.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Convers</a:t>
            </a:r>
            <a:r>
              <a:rPr lang="pt-BR"/>
              <a:t>ão de Dados – Transformar Strings em Números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2420550" y="1666350"/>
            <a:ext cx="4302900" cy="18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1C232"/>
                </a:solidFill>
              </a:rPr>
              <a:t>int </a:t>
            </a:r>
            <a:r>
              <a:rPr i="1" lang="pt-BR">
                <a:solidFill>
                  <a:srgbClr val="6D9EEB"/>
                </a:solidFill>
              </a:rPr>
              <a:t>atoi</a:t>
            </a:r>
            <a:r>
              <a:rPr i="1" lang="pt-BR">
                <a:solidFill>
                  <a:srgbClr val="F1C232"/>
                </a:solidFill>
              </a:rPr>
              <a:t>(const char *</a:t>
            </a:r>
            <a:r>
              <a:rPr i="1" lang="pt-BR">
                <a:solidFill>
                  <a:schemeClr val="dk1"/>
                </a:solidFill>
              </a:rPr>
              <a:t>nptr</a:t>
            </a:r>
            <a:r>
              <a:rPr i="1" lang="pt-BR">
                <a:solidFill>
                  <a:srgbClr val="F1C232"/>
                </a:solidFill>
              </a:rPr>
              <a:t>);</a:t>
            </a:r>
            <a:endParaRPr i="1">
              <a:solidFill>
                <a:srgbClr val="F1C23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1C232"/>
                </a:solidFill>
              </a:rPr>
              <a:t>long </a:t>
            </a:r>
            <a:r>
              <a:rPr i="1" lang="pt-BR">
                <a:solidFill>
                  <a:srgbClr val="6D9EEB"/>
                </a:solidFill>
              </a:rPr>
              <a:t>atol</a:t>
            </a:r>
            <a:r>
              <a:rPr i="1" lang="pt-BR">
                <a:solidFill>
                  <a:srgbClr val="F1C232"/>
                </a:solidFill>
              </a:rPr>
              <a:t>(const char *</a:t>
            </a:r>
            <a:r>
              <a:rPr i="1" lang="pt-BR">
                <a:solidFill>
                  <a:schemeClr val="dk1"/>
                </a:solidFill>
              </a:rPr>
              <a:t>nptr</a:t>
            </a:r>
            <a:r>
              <a:rPr i="1" lang="pt-BR">
                <a:solidFill>
                  <a:srgbClr val="F1C232"/>
                </a:solidFill>
              </a:rPr>
              <a:t>);</a:t>
            </a:r>
            <a:endParaRPr i="1">
              <a:solidFill>
                <a:srgbClr val="F1C23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1C232"/>
                </a:solidFill>
              </a:rPr>
              <a:t>long long </a:t>
            </a:r>
            <a:r>
              <a:rPr i="1" lang="pt-BR">
                <a:solidFill>
                  <a:srgbClr val="6D9EEB"/>
                </a:solidFill>
              </a:rPr>
              <a:t>atoll</a:t>
            </a:r>
            <a:r>
              <a:rPr i="1" lang="pt-BR">
                <a:solidFill>
                  <a:srgbClr val="F1C232"/>
                </a:solidFill>
              </a:rPr>
              <a:t>(const char *</a:t>
            </a:r>
            <a:r>
              <a:rPr i="1" lang="pt-BR">
                <a:solidFill>
                  <a:schemeClr val="dk1"/>
                </a:solidFill>
              </a:rPr>
              <a:t>nptr</a:t>
            </a:r>
            <a:r>
              <a:rPr i="1" lang="pt-BR">
                <a:solidFill>
                  <a:srgbClr val="F1C232"/>
                </a:solidFill>
              </a:rPr>
              <a:t>)</a:t>
            </a:r>
            <a:r>
              <a:rPr i="1" lang="pt-BR">
                <a:solidFill>
                  <a:srgbClr val="F1C232"/>
                </a:solidFill>
              </a:rPr>
              <a:t>;</a:t>
            </a:r>
            <a:endParaRPr i="1">
              <a:solidFill>
                <a:srgbClr val="F1C23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>
                <a:solidFill>
                  <a:srgbClr val="F1C232"/>
                </a:solidFill>
              </a:rPr>
              <a:t>double </a:t>
            </a:r>
            <a:r>
              <a:rPr i="1" lang="pt-BR">
                <a:solidFill>
                  <a:srgbClr val="6D9EEB"/>
                </a:solidFill>
              </a:rPr>
              <a:t>atof</a:t>
            </a:r>
            <a:r>
              <a:rPr i="1" lang="pt-BR">
                <a:solidFill>
                  <a:srgbClr val="F1C232"/>
                </a:solidFill>
              </a:rPr>
              <a:t>(const char *</a:t>
            </a:r>
            <a:r>
              <a:rPr i="1" lang="pt-BR">
                <a:solidFill>
                  <a:schemeClr val="dk1"/>
                </a:solidFill>
              </a:rPr>
              <a:t>nptr</a:t>
            </a:r>
            <a:r>
              <a:rPr i="1" lang="pt-BR">
                <a:solidFill>
                  <a:srgbClr val="F1C232"/>
                </a:solidFill>
              </a:rPr>
              <a:t>);</a:t>
            </a:r>
            <a:endParaRPr i="1"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Conversão de Dados – String para Dados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i="1" lang="pt-BR">
                <a:solidFill>
                  <a:srgbClr val="F1C232"/>
                </a:solidFill>
              </a:rPr>
              <a:t>int</a:t>
            </a:r>
            <a:r>
              <a:rPr i="1" lang="pt-BR">
                <a:solidFill>
                  <a:schemeClr val="accent2"/>
                </a:solidFill>
              </a:rPr>
              <a:t> </a:t>
            </a:r>
            <a:r>
              <a:rPr i="1" lang="pt-BR">
                <a:solidFill>
                  <a:srgbClr val="4A86E8"/>
                </a:solidFill>
              </a:rPr>
              <a:t>sscanf</a:t>
            </a:r>
            <a:r>
              <a:rPr i="1" lang="pt-BR">
                <a:solidFill>
                  <a:schemeClr val="accent2"/>
                </a:solidFill>
              </a:rPr>
              <a:t>(</a:t>
            </a:r>
            <a:r>
              <a:rPr i="1" lang="pt-BR">
                <a:solidFill>
                  <a:srgbClr val="F1C232"/>
                </a:solidFill>
              </a:rPr>
              <a:t>const char* </a:t>
            </a:r>
            <a:r>
              <a:rPr i="1" lang="pt-BR">
                <a:solidFill>
                  <a:srgbClr val="FF0000"/>
                </a:solidFill>
              </a:rPr>
              <a:t>restrict</a:t>
            </a:r>
            <a:r>
              <a:rPr i="1" lang="pt-BR">
                <a:solidFill>
                  <a:schemeClr val="dk1"/>
                </a:solidFill>
              </a:rPr>
              <a:t> str</a:t>
            </a:r>
            <a:r>
              <a:rPr i="1" lang="pt-BR">
                <a:solidFill>
                  <a:schemeClr val="accent2"/>
                </a:solidFill>
              </a:rPr>
              <a:t>, </a:t>
            </a:r>
            <a:r>
              <a:rPr i="1" lang="pt-BR">
                <a:solidFill>
                  <a:srgbClr val="F1C232"/>
                </a:solidFill>
              </a:rPr>
              <a:t>const char* </a:t>
            </a:r>
            <a:r>
              <a:rPr i="1" lang="pt-BR">
                <a:solidFill>
                  <a:srgbClr val="FF0000"/>
                </a:solidFill>
              </a:rPr>
              <a:t>restrict</a:t>
            </a:r>
            <a:r>
              <a:rPr i="1" lang="pt-BR">
                <a:solidFill>
                  <a:schemeClr val="dk1"/>
                </a:solidFill>
              </a:rPr>
              <a:t> format</a:t>
            </a:r>
            <a:r>
              <a:rPr i="1" lang="pt-BR">
                <a:solidFill>
                  <a:schemeClr val="accent2"/>
                </a:solidFill>
              </a:rPr>
              <a:t>, </a:t>
            </a:r>
            <a:r>
              <a:rPr i="1" lang="pt-BR">
                <a:solidFill>
                  <a:schemeClr val="accent2"/>
                </a:solidFill>
              </a:rPr>
              <a:t>. . .</a:t>
            </a:r>
            <a:r>
              <a:rPr i="1" lang="pt-BR">
                <a:solidFill>
                  <a:schemeClr val="accent2"/>
                </a:solidFill>
              </a:rPr>
              <a:t>);</a:t>
            </a:r>
            <a:endParaRPr i="1">
              <a:solidFill>
                <a:schemeClr val="accent2"/>
              </a:solidFill>
            </a:endParaRP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780125"/>
            <a:ext cx="8520600" cy="18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Identifica todos os tipos de dados presentes no string buffer </a:t>
            </a:r>
            <a:r>
              <a:rPr b="1" lang="pt-BR">
                <a:solidFill>
                  <a:schemeClr val="accent2"/>
                </a:solidFill>
              </a:rPr>
              <a:t>str</a:t>
            </a:r>
            <a:r>
              <a:rPr lang="pt-BR">
                <a:solidFill>
                  <a:schemeClr val="accent2"/>
                </a:solidFill>
              </a:rPr>
              <a:t>, de acordo com a formatação </a:t>
            </a:r>
            <a:r>
              <a:rPr b="1" lang="pt-BR">
                <a:solidFill>
                  <a:schemeClr val="accent2"/>
                </a:solidFill>
              </a:rPr>
              <a:t>format</a:t>
            </a:r>
            <a:r>
              <a:rPr lang="pt-BR">
                <a:solidFill>
                  <a:schemeClr val="accent2"/>
                </a:solidFill>
              </a:rPr>
              <a:t> e os transfere para os dados mistos passados em </a:t>
            </a:r>
            <a:r>
              <a:rPr b="1" lang="pt-BR">
                <a:solidFill>
                  <a:schemeClr val="accent2"/>
                </a:solidFill>
              </a:rPr>
              <a:t>. . . </a:t>
            </a:r>
            <a:endParaRPr b="1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Devolve o número de caracteres processados.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Conversão de Dados – Dados para String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18363"/>
            <a:ext cx="85206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i="1" lang="pt-BR">
                <a:solidFill>
                  <a:srgbClr val="F1C232"/>
                </a:solidFill>
              </a:rPr>
              <a:t>int</a:t>
            </a:r>
            <a:r>
              <a:rPr i="1" lang="pt-BR">
                <a:solidFill>
                  <a:schemeClr val="accent2"/>
                </a:solidFill>
              </a:rPr>
              <a:t> </a:t>
            </a:r>
            <a:r>
              <a:rPr i="1" lang="pt-BR">
                <a:solidFill>
                  <a:srgbClr val="4A86E8"/>
                </a:solidFill>
              </a:rPr>
              <a:t>snprintf</a:t>
            </a:r>
            <a:r>
              <a:rPr i="1" lang="pt-BR">
                <a:solidFill>
                  <a:schemeClr val="accent2"/>
                </a:solidFill>
              </a:rPr>
              <a:t>(</a:t>
            </a:r>
            <a:r>
              <a:rPr i="1" lang="pt-BR">
                <a:solidFill>
                  <a:srgbClr val="F1C232"/>
                </a:solidFill>
              </a:rPr>
              <a:t>char* </a:t>
            </a:r>
            <a:r>
              <a:rPr i="1" lang="pt-BR">
                <a:solidFill>
                  <a:schemeClr val="dk1"/>
                </a:solidFill>
              </a:rPr>
              <a:t>str</a:t>
            </a:r>
            <a:r>
              <a:rPr i="1" lang="pt-BR">
                <a:solidFill>
                  <a:schemeClr val="accent2"/>
                </a:solidFill>
              </a:rPr>
              <a:t>, </a:t>
            </a:r>
            <a:r>
              <a:rPr i="1" lang="pt-BR">
                <a:solidFill>
                  <a:srgbClr val="F1C232"/>
                </a:solidFill>
              </a:rPr>
              <a:t>size_t </a:t>
            </a:r>
            <a:r>
              <a:rPr i="1" lang="pt-BR">
                <a:solidFill>
                  <a:schemeClr val="dk1"/>
                </a:solidFill>
              </a:rPr>
              <a:t>size</a:t>
            </a:r>
            <a:r>
              <a:rPr i="1" lang="pt-BR">
                <a:solidFill>
                  <a:schemeClr val="accent2"/>
                </a:solidFill>
              </a:rPr>
              <a:t>, </a:t>
            </a:r>
            <a:r>
              <a:rPr i="1" lang="pt-BR">
                <a:solidFill>
                  <a:srgbClr val="F1C232"/>
                </a:solidFill>
              </a:rPr>
              <a:t>const char*</a:t>
            </a:r>
            <a:r>
              <a:rPr i="1" lang="pt-BR">
                <a:solidFill>
                  <a:schemeClr val="dk1"/>
                </a:solidFill>
              </a:rPr>
              <a:t> format, . . .</a:t>
            </a:r>
            <a:r>
              <a:rPr i="1" lang="pt-BR">
                <a:solidFill>
                  <a:schemeClr val="accent2"/>
                </a:solidFill>
              </a:rPr>
              <a:t>);</a:t>
            </a:r>
            <a:endParaRPr i="1">
              <a:solidFill>
                <a:schemeClr val="accent2"/>
              </a:solidFill>
            </a:endParaRPr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911900"/>
            <a:ext cx="8520600" cy="16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Transforma os dados passados em </a:t>
            </a:r>
            <a:r>
              <a:rPr b="1" lang="pt-BR">
                <a:solidFill>
                  <a:schemeClr val="accent2"/>
                </a:solidFill>
              </a:rPr>
              <a:t>(. . .)</a:t>
            </a:r>
            <a:r>
              <a:rPr lang="pt-BR">
                <a:solidFill>
                  <a:schemeClr val="accent2"/>
                </a:solidFill>
              </a:rPr>
              <a:t> em uma string armazenada em </a:t>
            </a:r>
            <a:r>
              <a:rPr b="1" lang="pt-BR">
                <a:solidFill>
                  <a:schemeClr val="accent2"/>
                </a:solidFill>
              </a:rPr>
              <a:t>str</a:t>
            </a:r>
            <a:r>
              <a:rPr lang="pt-BR">
                <a:solidFill>
                  <a:schemeClr val="accent2"/>
                </a:solidFill>
              </a:rPr>
              <a:t> de acordo com a formatação </a:t>
            </a:r>
            <a:r>
              <a:rPr b="1" lang="pt-BR">
                <a:solidFill>
                  <a:schemeClr val="accent2"/>
                </a:solidFill>
              </a:rPr>
              <a:t>format</a:t>
            </a:r>
            <a:r>
              <a:rPr lang="pt-BR">
                <a:solidFill>
                  <a:schemeClr val="accent2"/>
                </a:solidFill>
              </a:rPr>
              <a:t>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pt-BR">
                <a:solidFill>
                  <a:schemeClr val="accent2"/>
                </a:solidFill>
              </a:rPr>
              <a:t>Devolve o número de caracteres processados.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Vetores/Strings em Funç</a:t>
            </a:r>
            <a:r>
              <a:rPr lang="pt-BR"/>
              <a:t>ões – Passando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083450"/>
            <a:ext cx="8520600" cy="33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2"/>
                </a:solidFill>
              </a:rPr>
              <a:t>É essencial saber o contexto em que são transferidos dados por funções. Considere uma função </a:t>
            </a:r>
            <a:r>
              <a:rPr i="1" lang="pt-BR" sz="1600">
                <a:solidFill>
                  <a:schemeClr val="accent2"/>
                </a:solidFill>
              </a:rPr>
              <a:t>int soma_todos(int vetor[]);</a:t>
            </a:r>
            <a:endParaRPr i="1" sz="1600">
              <a:solidFill>
                <a:schemeClr val="accent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i="1" lang="pt-BR" sz="1600">
                <a:solidFill>
                  <a:srgbClr val="F1C232"/>
                </a:solidFill>
              </a:rPr>
              <a:t>int</a:t>
            </a:r>
            <a:r>
              <a:rPr i="1" lang="pt-BR" sz="1600">
                <a:solidFill>
                  <a:schemeClr val="accent2"/>
                </a:solidFill>
              </a:rPr>
              <a:t> </a:t>
            </a:r>
            <a:r>
              <a:rPr i="1" lang="pt-BR" sz="1600">
                <a:solidFill>
                  <a:srgbClr val="6D9EEB"/>
                </a:solidFill>
              </a:rPr>
              <a:t>soma_todos</a:t>
            </a:r>
            <a:r>
              <a:rPr i="1" lang="pt-BR" sz="1600">
                <a:solidFill>
                  <a:schemeClr val="accent2"/>
                </a:solidFill>
              </a:rPr>
              <a:t>(</a:t>
            </a:r>
            <a:r>
              <a:rPr i="1" lang="pt-BR" sz="1600">
                <a:solidFill>
                  <a:srgbClr val="F1C232"/>
                </a:solidFill>
              </a:rPr>
              <a:t>int </a:t>
            </a:r>
            <a:r>
              <a:rPr i="1" lang="pt-BR" sz="1600">
                <a:solidFill>
                  <a:schemeClr val="accent2"/>
                </a:solidFill>
              </a:rPr>
              <a:t>vetor[])</a:t>
            </a:r>
            <a:r>
              <a:rPr lang="pt-BR" sz="1600">
                <a:solidFill>
                  <a:schemeClr val="accent2"/>
                </a:solidFill>
              </a:rPr>
              <a:t>, </a:t>
            </a:r>
            <a:r>
              <a:rPr i="1" lang="pt-BR" sz="1600">
                <a:solidFill>
                  <a:srgbClr val="F1C232"/>
                </a:solidFill>
              </a:rPr>
              <a:t>int</a:t>
            </a:r>
            <a:r>
              <a:rPr i="1" lang="pt-BR" sz="1600">
                <a:solidFill>
                  <a:schemeClr val="accent2"/>
                </a:solidFill>
              </a:rPr>
              <a:t> </a:t>
            </a:r>
            <a:r>
              <a:rPr i="1" lang="pt-BR" sz="1600">
                <a:solidFill>
                  <a:srgbClr val="6D9EEB"/>
                </a:solidFill>
              </a:rPr>
              <a:t>soma_todos</a:t>
            </a:r>
            <a:r>
              <a:rPr i="1" lang="pt-BR" sz="1600">
                <a:solidFill>
                  <a:schemeClr val="accent2"/>
                </a:solidFill>
              </a:rPr>
              <a:t>(</a:t>
            </a:r>
            <a:r>
              <a:rPr i="1" lang="pt-BR" sz="1600">
                <a:solidFill>
                  <a:srgbClr val="F1C232"/>
                </a:solidFill>
              </a:rPr>
              <a:t>int* </a:t>
            </a:r>
            <a:r>
              <a:rPr i="1" lang="pt-BR" sz="1600">
                <a:solidFill>
                  <a:schemeClr val="accent2"/>
                </a:solidFill>
              </a:rPr>
              <a:t>vetor)</a:t>
            </a:r>
            <a:r>
              <a:rPr lang="pt-BR" sz="1600">
                <a:solidFill>
                  <a:schemeClr val="accent2"/>
                </a:solidFill>
              </a:rPr>
              <a:t> e </a:t>
            </a:r>
            <a:r>
              <a:rPr i="1" lang="pt-BR" sz="1600">
                <a:solidFill>
                  <a:srgbClr val="F1C232"/>
                </a:solidFill>
              </a:rPr>
              <a:t>int</a:t>
            </a:r>
            <a:r>
              <a:rPr i="1" lang="pt-BR" sz="1600">
                <a:solidFill>
                  <a:schemeClr val="accent2"/>
                </a:solidFill>
              </a:rPr>
              <a:t> </a:t>
            </a:r>
            <a:r>
              <a:rPr i="1" lang="pt-BR" sz="1600">
                <a:solidFill>
                  <a:srgbClr val="6D9EEB"/>
                </a:solidFill>
              </a:rPr>
              <a:t>soma_todos</a:t>
            </a:r>
            <a:r>
              <a:rPr i="1" lang="pt-BR" sz="1600">
                <a:solidFill>
                  <a:schemeClr val="accent2"/>
                </a:solidFill>
              </a:rPr>
              <a:t>(</a:t>
            </a:r>
            <a:r>
              <a:rPr i="1" lang="pt-BR" sz="1600">
                <a:solidFill>
                  <a:srgbClr val="F1C232"/>
                </a:solidFill>
              </a:rPr>
              <a:t>int</a:t>
            </a:r>
            <a:r>
              <a:rPr i="1" lang="pt-BR" sz="1600">
                <a:solidFill>
                  <a:schemeClr val="accent2"/>
                </a:solidFill>
              </a:rPr>
              <a:t> vetor[n])</a:t>
            </a:r>
            <a:r>
              <a:rPr lang="pt-BR" sz="1600">
                <a:solidFill>
                  <a:schemeClr val="accent2"/>
                </a:solidFill>
              </a:rPr>
              <a:t> com </a:t>
            </a:r>
            <a:r>
              <a:rPr b="1" lang="pt-BR" sz="1600">
                <a:solidFill>
                  <a:schemeClr val="accent2"/>
                </a:solidFill>
              </a:rPr>
              <a:t>n</a:t>
            </a:r>
            <a:r>
              <a:rPr lang="pt-BR" sz="1600">
                <a:solidFill>
                  <a:schemeClr val="accent2"/>
                </a:solidFill>
              </a:rPr>
              <a:t> sendo um número explicitamente digitado, são a mesma coisa.</a:t>
            </a:r>
            <a:endParaRPr sz="1600">
              <a:solidFill>
                <a:schemeClr val="accen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pt-BR" sz="1600">
                <a:solidFill>
                  <a:schemeClr val="accent2"/>
                </a:solidFill>
              </a:rPr>
              <a:t>Vetores passados por função perdem o atributo implícito </a:t>
            </a:r>
            <a:r>
              <a:rPr b="1" lang="pt-BR" sz="1600">
                <a:solidFill>
                  <a:schemeClr val="accent2"/>
                </a:solidFill>
              </a:rPr>
              <a:t>sizeof()</a:t>
            </a:r>
            <a:r>
              <a:rPr lang="pt-BR" sz="1600">
                <a:solidFill>
                  <a:schemeClr val="accent2"/>
                </a:solidFill>
              </a:rPr>
              <a:t> para obter o número de elementos.</a:t>
            </a:r>
            <a:endParaRPr sz="1600">
              <a:solidFill>
                <a:schemeClr val="accen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pt-BR" sz="1600">
                <a:solidFill>
                  <a:schemeClr val="accent2"/>
                </a:solidFill>
              </a:rPr>
              <a:t>Ponteiros de vetor </a:t>
            </a:r>
            <a:r>
              <a:rPr b="1" lang="pt-BR" sz="1600">
                <a:solidFill>
                  <a:schemeClr val="accent2"/>
                </a:solidFill>
              </a:rPr>
              <a:t>const</a:t>
            </a:r>
            <a:r>
              <a:rPr lang="pt-BR" sz="1600">
                <a:solidFill>
                  <a:schemeClr val="accent2"/>
                </a:solidFill>
              </a:rPr>
              <a:t> impedem (em tempo de compilação) a função de </a:t>
            </a:r>
            <a:r>
              <a:rPr b="1" lang="pt-BR" sz="1600">
                <a:solidFill>
                  <a:schemeClr val="accent2"/>
                </a:solidFill>
              </a:rPr>
              <a:t>modificar os dados do vetor</a:t>
            </a:r>
            <a:r>
              <a:rPr lang="pt-BR" sz="1600">
                <a:solidFill>
                  <a:schemeClr val="accent2"/>
                </a:solidFill>
              </a:rPr>
              <a:t>. É padrão em escrita C para dados de </a:t>
            </a:r>
            <a:r>
              <a:rPr b="1" lang="pt-BR" sz="1600">
                <a:solidFill>
                  <a:schemeClr val="accent2"/>
                </a:solidFill>
              </a:rPr>
              <a:t>apenas leitura.</a:t>
            </a:r>
            <a:endParaRPr b="1" sz="1600">
              <a:solidFill>
                <a:schemeClr val="accent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○"/>
            </a:pPr>
            <a:r>
              <a:rPr i="1" lang="pt-BR" sz="1600">
                <a:solidFill>
                  <a:srgbClr val="F1C232"/>
                </a:solidFill>
              </a:rPr>
              <a:t>int</a:t>
            </a:r>
            <a:r>
              <a:rPr i="1" lang="pt-BR" sz="1600">
                <a:solidFill>
                  <a:schemeClr val="accent2"/>
                </a:solidFill>
              </a:rPr>
              <a:t> </a:t>
            </a:r>
            <a:r>
              <a:rPr i="1" lang="pt-BR" sz="1600">
                <a:solidFill>
                  <a:srgbClr val="6D9EEB"/>
                </a:solidFill>
              </a:rPr>
              <a:t>soma_todos</a:t>
            </a:r>
            <a:r>
              <a:rPr i="1" lang="pt-BR" sz="1600">
                <a:solidFill>
                  <a:schemeClr val="accent2"/>
                </a:solidFill>
              </a:rPr>
              <a:t>(</a:t>
            </a:r>
            <a:r>
              <a:rPr i="1" lang="pt-BR" sz="1600">
                <a:solidFill>
                  <a:srgbClr val="E06666"/>
                </a:solidFill>
              </a:rPr>
              <a:t>const</a:t>
            </a:r>
            <a:r>
              <a:rPr i="1" lang="pt-BR" sz="1600">
                <a:solidFill>
                  <a:schemeClr val="accent2"/>
                </a:solidFill>
              </a:rPr>
              <a:t> </a:t>
            </a:r>
            <a:r>
              <a:rPr i="1" lang="pt-BR" sz="1600">
                <a:solidFill>
                  <a:srgbClr val="F1C232"/>
                </a:solidFill>
              </a:rPr>
              <a:t>int*</a:t>
            </a:r>
            <a:r>
              <a:rPr i="1" lang="pt-BR" sz="1600">
                <a:solidFill>
                  <a:schemeClr val="accent2"/>
                </a:solidFill>
              </a:rPr>
              <a:t> vetor);</a:t>
            </a:r>
            <a:r>
              <a:rPr lang="pt-BR" sz="1600">
                <a:solidFill>
                  <a:schemeClr val="accent2"/>
                </a:solidFill>
              </a:rPr>
              <a:t>	</a:t>
            </a:r>
            <a:r>
              <a:rPr lang="pt-BR" sz="1600"/>
              <a:t>// Apenas lê dados do </a:t>
            </a:r>
            <a:r>
              <a:rPr i="1" lang="pt-BR" sz="1600"/>
              <a:t>vetor</a:t>
            </a:r>
            <a:endParaRPr i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○"/>
            </a:pPr>
            <a:r>
              <a:rPr lang="pt-BR" sz="1600">
                <a:solidFill>
                  <a:schemeClr val="accent2"/>
                </a:solidFill>
              </a:rPr>
              <a:t>Escrever dados em </a:t>
            </a:r>
            <a:r>
              <a:rPr i="1" lang="pt-BR" sz="1600">
                <a:solidFill>
                  <a:schemeClr val="accent2"/>
                </a:solidFill>
              </a:rPr>
              <a:t>vetor</a:t>
            </a:r>
            <a:r>
              <a:rPr lang="pt-BR" sz="1600">
                <a:solidFill>
                  <a:schemeClr val="accent2"/>
                </a:solidFill>
              </a:rPr>
              <a:t> dentro da função, desta forma, gera erro de compilação.</a:t>
            </a:r>
            <a:endParaRPr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Vetores/Strings em Funções – Passando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586700"/>
            <a:ext cx="8520600" cy="19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2"/>
                </a:solidFill>
              </a:rPr>
              <a:t>Convém </a:t>
            </a:r>
            <a:r>
              <a:rPr b="1" lang="pt-BR" sz="1600">
                <a:solidFill>
                  <a:schemeClr val="accent2"/>
                </a:solidFill>
              </a:rPr>
              <a:t>SEMPRE</a:t>
            </a:r>
            <a:r>
              <a:rPr lang="pt-BR" sz="1600">
                <a:solidFill>
                  <a:schemeClr val="accent2"/>
                </a:solidFill>
              </a:rPr>
              <a:t> passar o número de elementos a se trabalhar em funções que recebem vetores, já que o “atributo” </a:t>
            </a:r>
            <a:r>
              <a:rPr b="1" lang="pt-BR" sz="1600">
                <a:solidFill>
                  <a:schemeClr val="accent2"/>
                </a:solidFill>
              </a:rPr>
              <a:t>sizeof()</a:t>
            </a:r>
            <a:r>
              <a:rPr lang="pt-BR" sz="1600">
                <a:solidFill>
                  <a:schemeClr val="accent2"/>
                </a:solidFill>
              </a:rPr>
              <a:t> como determinador do tamanho de uma string ou vetor se perde ao passá-lo para uma função.</a:t>
            </a:r>
            <a:endParaRPr i="1" sz="1600">
              <a:solidFill>
                <a:schemeClr val="accent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 sz="1600">
                <a:solidFill>
                  <a:srgbClr val="F1C232"/>
                </a:solidFill>
              </a:rPr>
              <a:t>int</a:t>
            </a:r>
            <a:r>
              <a:rPr i="1" lang="pt-BR" sz="1600">
                <a:solidFill>
                  <a:schemeClr val="accent2"/>
                </a:solidFill>
              </a:rPr>
              <a:t> </a:t>
            </a:r>
            <a:r>
              <a:rPr i="1" lang="pt-BR" sz="1600">
                <a:solidFill>
                  <a:srgbClr val="6D9EEB"/>
                </a:solidFill>
              </a:rPr>
              <a:t>soma_todos</a:t>
            </a:r>
            <a:r>
              <a:rPr i="1" lang="pt-BR" sz="1600">
                <a:solidFill>
                  <a:schemeClr val="accent2"/>
                </a:solidFill>
              </a:rPr>
              <a:t>(</a:t>
            </a:r>
            <a:r>
              <a:rPr i="1" lang="pt-BR" sz="1600">
                <a:solidFill>
                  <a:srgbClr val="F1C232"/>
                </a:solidFill>
              </a:rPr>
              <a:t>int </a:t>
            </a:r>
            <a:r>
              <a:rPr i="1" lang="pt-BR" sz="1600">
                <a:solidFill>
                  <a:schemeClr val="accent2"/>
                </a:solidFill>
              </a:rPr>
              <a:t>vetor[], </a:t>
            </a:r>
            <a:r>
              <a:rPr i="1" lang="pt-BR" sz="1600">
                <a:solidFill>
                  <a:srgbClr val="F1C232"/>
                </a:solidFill>
              </a:rPr>
              <a:t>int </a:t>
            </a:r>
            <a:r>
              <a:rPr i="1" lang="pt-BR" sz="1600">
                <a:solidFill>
                  <a:schemeClr val="accent2"/>
                </a:solidFill>
              </a:rPr>
              <a:t>size);</a:t>
            </a:r>
            <a:endParaRPr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Vetores/Strings em Funções – Recebendo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089625"/>
            <a:ext cx="8520600" cy="3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2"/>
                </a:solidFill>
              </a:rPr>
              <a:t>Receber strings ou vetores estáticos via função é impossível, de forma segura. Convém que se crie sempre um buffer, que será modificado via ponteiro para dado. Assim, o dado é recebido seguramente.</a:t>
            </a:r>
            <a:endParaRPr sz="1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2"/>
                </a:solidFill>
              </a:rPr>
              <a:t>Ex.:</a:t>
            </a:r>
            <a:endParaRPr sz="16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pt-BR" sz="1200">
                <a:solidFill>
                  <a:srgbClr val="F1C23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pt-BR" sz="12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contar_ate_dez</a:t>
            </a: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1" lang="pt-BR" sz="1200">
                <a:solidFill>
                  <a:srgbClr val="F1C232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vetor[], </a:t>
            </a:r>
            <a:r>
              <a:rPr b="1" i="1" lang="pt-BR" sz="1200">
                <a:solidFill>
                  <a:srgbClr val="F1C232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size) {</a:t>
            </a:r>
            <a:endParaRPr b="1" i="1" sz="12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	// C</a:t>
            </a: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ódigo para contar até 10</a:t>
            </a:r>
            <a:endParaRPr b="1" i="1" sz="12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1" sz="12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pt-BR" sz="1200">
                <a:solidFill>
                  <a:srgbClr val="F1C23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main() {</a:t>
            </a:r>
            <a:endParaRPr b="1" i="1" sz="12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1" lang="pt-BR" sz="1200">
                <a:solidFill>
                  <a:srgbClr val="F1C23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buffer[10] = { 0 };	</a:t>
            </a:r>
            <a:endParaRPr b="1" i="1" sz="12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pt-BR" sz="1200">
                <a:solidFill>
                  <a:srgbClr val="B7B7B7"/>
                </a:solidFill>
                <a:latin typeface="Courier New"/>
                <a:ea typeface="Courier New"/>
                <a:cs typeface="Courier New"/>
                <a:sym typeface="Courier New"/>
              </a:rPr>
              <a:t>// buffer = {0, 0, 0, 0, 0, 0, 0, 0, 0, 0}</a:t>
            </a:r>
            <a:endParaRPr b="1" i="1" sz="1200">
              <a:solidFill>
                <a:srgbClr val="B7B7B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1" lang="pt-BR" sz="1200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contar_ate_dez</a:t>
            </a: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(buffer, 10);</a:t>
            </a:r>
            <a:endParaRPr b="1" i="1" sz="12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1" lang="pt-BR" sz="1200">
                <a:solidFill>
                  <a:srgbClr val="B7B7B7"/>
                </a:solidFill>
                <a:latin typeface="Courier New"/>
                <a:ea typeface="Courier New"/>
                <a:cs typeface="Courier New"/>
                <a:sym typeface="Courier New"/>
              </a:rPr>
              <a:t>// buffer = {1, 2, 3, 4, 5, 6, 7, 8, 9, 10}</a:t>
            </a:r>
            <a:endParaRPr b="1" i="1" sz="1200">
              <a:solidFill>
                <a:srgbClr val="B7B7B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pt-BR" sz="12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1" sz="12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Tratamento de Erros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017725"/>
            <a:ext cx="8520600" cy="18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2"/>
                </a:solidFill>
              </a:rPr>
              <a:t>Erros em C são sempre </a:t>
            </a:r>
            <a:r>
              <a:rPr b="1" lang="pt-BR" sz="1600">
                <a:solidFill>
                  <a:schemeClr val="accent2"/>
                </a:solidFill>
              </a:rPr>
              <a:t>números inteiros</a:t>
            </a:r>
            <a:r>
              <a:rPr lang="pt-BR" sz="1600">
                <a:solidFill>
                  <a:schemeClr val="accent2"/>
                </a:solidFill>
              </a:rPr>
              <a:t>. Funções conhecidas em C (printf, scanf, fgets, etc.) retornam valores numéricos para que o programador verifique o sucesso da operação realizada. Ou seja, tratar erros em C </a:t>
            </a:r>
            <a:r>
              <a:rPr b="1" lang="pt-BR" sz="1600">
                <a:solidFill>
                  <a:schemeClr val="accent2"/>
                </a:solidFill>
              </a:rPr>
              <a:t>sempre</a:t>
            </a:r>
            <a:r>
              <a:rPr lang="pt-BR" sz="1600">
                <a:solidFill>
                  <a:schemeClr val="accent2"/>
                </a:solidFill>
              </a:rPr>
              <a:t> consiste em receber dados de operações críticas e verificá-los por um </a:t>
            </a:r>
            <a:r>
              <a:rPr b="1" lang="pt-BR" sz="1600">
                <a:solidFill>
                  <a:schemeClr val="accent2"/>
                </a:solidFill>
              </a:rPr>
              <a:t>if</a:t>
            </a:r>
            <a:r>
              <a:rPr lang="pt-BR" sz="1600">
                <a:solidFill>
                  <a:schemeClr val="accent2"/>
                </a:solidFill>
              </a:rPr>
              <a:t> ou um </a:t>
            </a:r>
            <a:r>
              <a:rPr b="1" lang="pt-BR" sz="1600">
                <a:solidFill>
                  <a:schemeClr val="accent2"/>
                </a:solidFill>
              </a:rPr>
              <a:t>switch case</a:t>
            </a:r>
            <a:r>
              <a:rPr lang="pt-BR" sz="1600">
                <a:solidFill>
                  <a:schemeClr val="accent2"/>
                </a:solidFill>
              </a:rPr>
              <a:t> e tratá-los dentro do escopo de cada controlador de fluxo.</a:t>
            </a:r>
            <a:endParaRPr sz="1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chemeClr val="accent2"/>
                </a:solidFill>
              </a:rPr>
              <a:t>Ex.: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125" name="Google Shape;125;p24"/>
          <p:cNvSpPr txBox="1"/>
          <p:nvPr/>
        </p:nvSpPr>
        <p:spPr>
          <a:xfrm>
            <a:off x="2636550" y="2337125"/>
            <a:ext cx="3870900" cy="2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&lt;stdlib.h&gt;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int main(void) {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int *arr = malloc(10 * sizeof(int));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if (arr == NULL) {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    fprintf(stderr, "malloc falhou\n");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1;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free(arr);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Tratamento de Erros – Enums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017725"/>
            <a:ext cx="852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chemeClr val="accent2"/>
                </a:solidFill>
              </a:rPr>
              <a:t>Uma vantagem para o tratamento de erros em C é a definição de Enums, para chamar erros pelo nome ao invés de chamá-los pelo seu número.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363225" y="1569950"/>
            <a:ext cx="5797800" cy="3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&lt;stdlib.h&gt;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typedef enum {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OK,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ERRO_MALLOC,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} Erro;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Erro alocar(int **out, int n) {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*out = malloc(n * sizeof(int));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if (*out == NULL) return ERRO_MALLOC;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OK;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int main(void) {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int *arr;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Erro e = alocar(&amp;arr, 10);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if (e == ERRO_MALLOC) {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    fprintf(stderr, "malloc falhou\n");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1;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free(arr);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Falha do Crowdstrike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017725"/>
            <a:ext cx="8520600" cy="12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chemeClr val="accent2"/>
                </a:solidFill>
              </a:rPr>
              <a:t>Em 2024, 8,5 milhões de computadores e servidores ao redor do mundo – rodando softwares como cronogramas de aeroportos, servidores críticos, servidores de websites – pararam após um update do software de gerenciamento Crowdstrike. A falha foi crítica, gerando a </a:t>
            </a:r>
            <a:r>
              <a:rPr b="1" lang="pt-BR" sz="1600">
                <a:solidFill>
                  <a:schemeClr val="accent2"/>
                </a:solidFill>
              </a:rPr>
              <a:t>tela azul da morte</a:t>
            </a:r>
            <a:r>
              <a:rPr lang="pt-BR" sz="1600">
                <a:solidFill>
                  <a:schemeClr val="accent2"/>
                </a:solidFill>
              </a:rPr>
              <a:t> em tudo que rodavam o programa.</a:t>
            </a:r>
            <a:endParaRPr sz="1600">
              <a:solidFill>
                <a:schemeClr val="accent2"/>
              </a:solidFill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79225"/>
            <a:ext cx="4269245" cy="25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5" y="2279225"/>
            <a:ext cx="3811087" cy="255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Falha do Crowdstrike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017725"/>
            <a:ext cx="8520600" cy="12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chemeClr val="accent2"/>
                </a:solidFill>
              </a:rPr>
              <a:t>O motivo foi a ausência de tratamento de erros, já que o Crowdstrike era programado em C. Ao debugar o código, foi liberado um diagnóstico de erros, em que o sistema operacional tentava alocar memória no sistema, falhava, e devolvia NULL para um ponteiro (número 0), que tentava escrever no endereço 0 da memória. O resultado não foi checado pelo programa, coisa que poderia ser feito com um simples </a:t>
            </a:r>
            <a:r>
              <a:rPr b="1" lang="pt-BR" sz="1600">
                <a:solidFill>
                  <a:schemeClr val="accent2"/>
                </a:solidFill>
              </a:rPr>
              <a:t>if,</a:t>
            </a:r>
            <a:r>
              <a:rPr lang="pt-BR" sz="1600">
                <a:solidFill>
                  <a:schemeClr val="accent2"/>
                </a:solidFill>
              </a:rPr>
              <a:t> e isso gerou a falha catastrófica.</a:t>
            </a:r>
            <a:endParaRPr sz="1600">
              <a:solidFill>
                <a:schemeClr val="accent2"/>
              </a:solidFill>
            </a:endParaRPr>
          </a:p>
        </p:txBody>
      </p:sp>
      <p:pic>
        <p:nvPicPr>
          <p:cNvPr id="147" name="Google Shape;147;p27" title="Captura de tela de 2026-06-06 16-44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701" y="2279225"/>
            <a:ext cx="4544601" cy="2444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985927">
            <a:off x="4394238" y="2259864"/>
            <a:ext cx="947944" cy="94794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 txBox="1"/>
          <p:nvPr/>
        </p:nvSpPr>
        <p:spPr>
          <a:xfrm>
            <a:off x="5294675" y="2421425"/>
            <a:ext cx="335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accent2"/>
                </a:solidFill>
              </a:rPr>
              <a:t>Não tinha no código original</a:t>
            </a:r>
            <a:endParaRPr b="1" sz="18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480300" y="2088738"/>
            <a:ext cx="1956900" cy="9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Falha do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Crowdstrike</a:t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2462" y="-33725"/>
            <a:ext cx="6483262" cy="52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Alocaç</a:t>
            </a:r>
            <a:r>
              <a:rPr lang="pt-BR"/>
              <a:t>ão de Objetos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259325"/>
            <a:ext cx="8520600" cy="25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2"/>
                </a:solidFill>
              </a:rPr>
              <a:t>Às vezes, alocar vários objetos de um mesmo tipo é necessário. Mas, dependendo do que você quiser fazer, existe mais de uma forma de realizar isso. As melhores formas são:</a:t>
            </a:r>
            <a:endParaRPr sz="1600">
              <a:solidFill>
                <a:schemeClr val="accent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pt-BR" sz="1600">
                <a:solidFill>
                  <a:schemeClr val="accent2"/>
                </a:solidFill>
              </a:rPr>
              <a:t>Pool de objetos. (preferencialmente na stack)</a:t>
            </a:r>
            <a:endParaRPr sz="1600">
              <a:solidFill>
                <a:schemeClr val="accen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pt-BR" sz="1600">
                <a:solidFill>
                  <a:schemeClr val="accent2"/>
                </a:solidFill>
              </a:rPr>
              <a:t>Arena de alocação. (preferencialmente na heap)</a:t>
            </a:r>
            <a:endParaRPr sz="1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Alocação de Objetos – Pool de Objetos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259325"/>
            <a:ext cx="8520600" cy="3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pt-BR" sz="1600">
                <a:solidFill>
                  <a:schemeClr val="accent2"/>
                </a:solidFill>
              </a:rPr>
              <a:t>A pool de objetos é um vetor que armazena N objetos de mesmo tipo. Acrescentar novos objetos a esse vetor é tão fácil como acrescentar mais um inteiro num vetor de ints.</a:t>
            </a:r>
            <a:endParaRPr sz="1600">
              <a:solidFill>
                <a:schemeClr val="accen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pt-BR" sz="1600">
                <a:solidFill>
                  <a:schemeClr val="accent2"/>
                </a:solidFill>
              </a:rPr>
              <a:t>É fácil de criar e rápido de executar sua criação ao abrir o programa.</a:t>
            </a:r>
            <a:endParaRPr sz="1600">
              <a:solidFill>
                <a:schemeClr val="accen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pt-BR" sz="1600">
                <a:solidFill>
                  <a:schemeClr val="accent2"/>
                </a:solidFill>
              </a:rPr>
              <a:t>Se for estático, é carregado desde o início do escopo determinado pelo programador. Essa é a principal desvantagem de uma pool dessa forma. Às vezes, o espaço só é liberado quando o programa acaba.</a:t>
            </a:r>
            <a:endParaRPr sz="1600">
              <a:solidFill>
                <a:schemeClr val="accen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pt-BR" sz="1600">
                <a:solidFill>
                  <a:schemeClr val="accent2"/>
                </a:solidFill>
              </a:rPr>
              <a:t>Se for dinâmico, pode ser seletivamente alocado durante a execução, deixando espaço na memória RAM do computador quando os objetos não forem necessários no programa.</a:t>
            </a:r>
            <a:endParaRPr sz="1600">
              <a:solidFill>
                <a:schemeClr val="accen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pt-BR" sz="1600">
                <a:solidFill>
                  <a:schemeClr val="accent2"/>
                </a:solidFill>
              </a:rPr>
              <a:t>Por outro lado… pools dinâmicas requerem do programador a sensibilidade de trabalhar com dados alocados dinamicamente (malloc() e free())</a:t>
            </a:r>
            <a:endParaRPr sz="1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